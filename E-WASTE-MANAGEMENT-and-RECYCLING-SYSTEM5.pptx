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IBM Plex Sans" panose="020B0503050203000203" pitchFamily="34" charset="0"/>
      <p:regular r:id="rId11"/>
    </p:embeddedFont>
    <p:embeddedFont>
      <p:font typeface="IBM Plex Sans Bold" panose="020B0803050203000203" charset="0"/>
      <p:regular r:id="rId12"/>
    </p:embeddedFont>
    <p:embeddedFont>
      <p:font typeface="IBM Plex Sans SemiBold" panose="020B0703050203000203" pitchFamily="34" charset="0"/>
      <p:bold r:id="rId13"/>
    </p:embeddedFont>
    <p:embeddedFont>
      <p:font typeface="Space Grotesk Semi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ana Topale" userId="2e021589427da5e4" providerId="LiveId" clId="{8CDBD311-B226-4D73-9A4C-36AD9EA12E1F}"/>
    <pc:docChg chg="modSld">
      <pc:chgData name="Bhavana Topale" userId="2e021589427da5e4" providerId="LiveId" clId="{8CDBD311-B226-4D73-9A4C-36AD9EA12E1F}" dt="2026-10-06T07:49:14.962" v="0" actId="1076"/>
      <pc:docMkLst>
        <pc:docMk/>
      </pc:docMkLst>
      <pc:sldChg chg="modSp mod">
        <pc:chgData name="Bhavana Topale" userId="2e021589427da5e4" providerId="LiveId" clId="{8CDBD311-B226-4D73-9A4C-36AD9EA12E1F}" dt="2026-10-06T07:49:14.962" v="0" actId="1076"/>
        <pc:sldMkLst>
          <pc:docMk/>
          <pc:sldMk cId="0" sldId="256"/>
        </pc:sldMkLst>
        <pc:spChg chg="mod">
          <ac:chgData name="Bhavana Topale" userId="2e021589427da5e4" providerId="LiveId" clId="{8CDBD311-B226-4D73-9A4C-36AD9EA12E1F}" dt="2026-10-06T07:49:14.962" v="0" actId="1076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147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34302"/>
            <a:ext cx="6222844" cy="5740400"/>
          </a:xfrm>
          <a:prstGeom prst="roundRect">
            <a:avLst>
              <a:gd name="adj" fmla="val 1062"/>
            </a:avLst>
          </a:prstGeom>
          <a:solidFill>
            <a:srgbClr val="152226"/>
          </a:solidFill>
          <a:ln w="19050">
            <a:solidFill>
              <a:srgbClr val="2C4A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4225" y="1549102"/>
            <a:ext cx="608314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DIPLOMA PROJECT · VIVA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4225" y="1816993"/>
            <a:ext cx="547356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51" dirty="0">
                <a:solidFill>
                  <a:srgbClr val="D7E2D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E-WASTE MANAGEMENT &amp; RECYCLING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84225" y="3191768"/>
            <a:ext cx="54735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Object-Oriented Approach to Sustainable E-Waste Management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84225" y="3883918"/>
            <a:ext cx="780534" cy="328017"/>
          </a:xfrm>
          <a:prstGeom prst="roundRect">
            <a:avLst>
              <a:gd name="adj" fmla="val 3484"/>
            </a:avLst>
          </a:prstGeom>
          <a:noFill/>
          <a:ln w="6350">
            <a:solidFill>
              <a:srgbClr val="53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3703" y="3948609"/>
            <a:ext cx="1131165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53E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C++17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872707" y="3883918"/>
            <a:ext cx="3098326" cy="328017"/>
          </a:xfrm>
          <a:prstGeom prst="roundRect">
            <a:avLst>
              <a:gd name="adj" fmla="val 3484"/>
            </a:avLst>
          </a:prstGeom>
          <a:noFill/>
          <a:ln w="6350">
            <a:solidFill>
              <a:srgbClr val="53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2184" y="3948609"/>
            <a:ext cx="3448956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53E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OBJECT-ORIENTED PROGRAMMING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84225" y="4319885"/>
            <a:ext cx="2968848" cy="328017"/>
          </a:xfrm>
          <a:prstGeom prst="roundRect">
            <a:avLst>
              <a:gd name="adj" fmla="val 3484"/>
            </a:avLst>
          </a:prstGeom>
          <a:noFill/>
          <a:ln w="6350">
            <a:solidFill>
              <a:srgbClr val="53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3703" y="4384576"/>
            <a:ext cx="3319479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53E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DIPLOMA ENGINEERING PROJECT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4225" y="4800302"/>
            <a:ext cx="310160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Students: </a:t>
            </a:r>
            <a:r>
              <a:rPr lang="en-US" sz="12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Kaushik B. Topale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 Bold" pitchFamily="34" charset="0"/>
              </a:rPr>
              <a:t>Nachiket Mane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 Bold" pitchFamily="34" charset="0"/>
              </a:rPr>
              <a:t>Viraj </a:t>
            </a:r>
            <a:r>
              <a:rPr lang="en-US" sz="1200" b="1" dirty="0" err="1">
                <a:solidFill>
                  <a:srgbClr val="FFFFFF"/>
                </a:solidFill>
                <a:latin typeface="IBM Plex Sans Bold" pitchFamily="34" charset="0"/>
              </a:rPr>
              <a:t>Durgoli</a:t>
            </a:r>
            <a:endParaRPr lang="en-US" sz="1200" b="1" dirty="0">
              <a:solidFill>
                <a:srgbClr val="FFFFFF"/>
              </a:solidFill>
              <a:latin typeface="IBM Plex Sans Bold" pitchFamily="34" charset="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 Bold" pitchFamily="34" charset="0"/>
              </a:rPr>
              <a:t>Samarth </a:t>
            </a:r>
            <a:r>
              <a:rPr lang="en-US" sz="1200" b="1" dirty="0" err="1">
                <a:solidFill>
                  <a:srgbClr val="FFFFFF"/>
                </a:solidFill>
                <a:latin typeface="IBM Plex Sans Bold" pitchFamily="34" charset="0"/>
              </a:rPr>
              <a:t>Thorva</a:t>
            </a:r>
            <a:endParaRPr lang="en-US" sz="1200" b="1" dirty="0">
              <a:solidFill>
                <a:srgbClr val="FFFFFF"/>
              </a:solidFill>
              <a:latin typeface="IBM Plex Sans Bold" pitchFamily="34" charset="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 Bold" pitchFamily="34" charset="0"/>
              </a:rPr>
              <a:t>Waleed Khan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0320" y="6035182"/>
            <a:ext cx="310160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Diploma Electronics &amp; Computer Engineering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8357" y="4890492"/>
            <a:ext cx="2249332" cy="328017"/>
          </a:xfrm>
          <a:prstGeom prst="roundRect">
            <a:avLst>
              <a:gd name="adj" fmla="val 3484"/>
            </a:avLst>
          </a:prstGeom>
          <a:solidFill>
            <a:srgbClr val="094043"/>
          </a:solidFill>
          <a:ln/>
        </p:spPr>
      </p:sp>
      <p:sp>
        <p:nvSpPr>
          <p:cNvPr id="15" name="Text 13"/>
          <p:cNvSpPr/>
          <p:nvPr/>
        </p:nvSpPr>
        <p:spPr>
          <a:xfrm>
            <a:off x="4337834" y="4955183"/>
            <a:ext cx="2119855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STATUS: ONLINE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150" dirty="0">
                <a:solidFill>
                  <a:srgbClr val="53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ANALYSIS · CURRENT CHALLENGES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50888"/>
            <a:ext cx="11277318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-42" dirty="0">
                <a:solidFill>
                  <a:srgbClr val="F4F8F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MISSION 01 — 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189" y="1761629"/>
            <a:ext cx="466217" cy="328017"/>
          </a:xfrm>
          <a:prstGeom prst="roundRect">
            <a:avLst>
              <a:gd name="adj" fmla="val 3484"/>
            </a:avLst>
          </a:prstGeom>
          <a:solidFill>
            <a:srgbClr val="094043"/>
          </a:solidFill>
          <a:ln/>
        </p:spPr>
      </p:sp>
      <p:sp>
        <p:nvSpPr>
          <p:cNvPr id="5" name="Text 3"/>
          <p:cNvSpPr/>
          <p:nvPr/>
        </p:nvSpPr>
        <p:spPr>
          <a:xfrm>
            <a:off x="586666" y="1826320"/>
            <a:ext cx="763965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502928" y="1668463"/>
            <a:ext cx="580702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Unorganized E-Waste:</a:t>
            </a:r>
            <a:r>
              <a:rPr lang="en-US" sz="15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Electronic waste is often recorded and handled without a structured system.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189" y="2479179"/>
            <a:ext cx="466217" cy="328017"/>
          </a:xfrm>
          <a:prstGeom prst="roundRect">
            <a:avLst>
              <a:gd name="adj" fmla="val 3484"/>
            </a:avLst>
          </a:prstGeom>
          <a:solidFill>
            <a:srgbClr val="094043"/>
          </a:solidFill>
          <a:ln/>
        </p:spPr>
      </p:sp>
      <p:sp>
        <p:nvSpPr>
          <p:cNvPr id="8" name="Text 6"/>
          <p:cNvSpPr/>
          <p:nvPr/>
        </p:nvSpPr>
        <p:spPr>
          <a:xfrm>
            <a:off x="586666" y="2543870"/>
            <a:ext cx="763965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02928" y="2386013"/>
            <a:ext cx="580702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Incorrect Classification:</a:t>
            </a:r>
            <a:r>
              <a:rPr lang="en-US" sz="15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Different electronic items require different handling and recycling processes.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189" y="3196729"/>
            <a:ext cx="466217" cy="328017"/>
          </a:xfrm>
          <a:prstGeom prst="roundRect">
            <a:avLst>
              <a:gd name="adj" fmla="val 3484"/>
            </a:avLst>
          </a:prstGeom>
          <a:solidFill>
            <a:srgbClr val="094043"/>
          </a:solidFill>
          <a:ln/>
        </p:spPr>
      </p:sp>
      <p:sp>
        <p:nvSpPr>
          <p:cNvPr id="11" name="Text 9"/>
          <p:cNvSpPr/>
          <p:nvPr/>
        </p:nvSpPr>
        <p:spPr>
          <a:xfrm>
            <a:off x="586666" y="3261420"/>
            <a:ext cx="763965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502928" y="3103563"/>
            <a:ext cx="580702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No Condition-Based Decision:</a:t>
            </a:r>
            <a:r>
              <a:rPr lang="en-US" sz="15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Working, partially working and non-working devices need different treatment.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189" y="3914279"/>
            <a:ext cx="466217" cy="328017"/>
          </a:xfrm>
          <a:prstGeom prst="roundRect">
            <a:avLst>
              <a:gd name="adj" fmla="val 3484"/>
            </a:avLst>
          </a:prstGeom>
          <a:solidFill>
            <a:srgbClr val="094043"/>
          </a:solidFill>
          <a:ln/>
        </p:spPr>
      </p:sp>
      <p:sp>
        <p:nvSpPr>
          <p:cNvPr id="14" name="Text 12"/>
          <p:cNvSpPr/>
          <p:nvPr/>
        </p:nvSpPr>
        <p:spPr>
          <a:xfrm>
            <a:off x="586666" y="3978970"/>
            <a:ext cx="763965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02928" y="3821113"/>
            <a:ext cx="580702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Poor Tracking:</a:t>
            </a:r>
            <a:r>
              <a:rPr lang="en-US" sz="15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Collection and recycling status can be difficult to monitor.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189" y="4589463"/>
            <a:ext cx="6852768" cy="805359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17" name="Text 15"/>
          <p:cNvSpPr/>
          <p:nvPr/>
        </p:nvSpPr>
        <p:spPr>
          <a:xfrm>
            <a:off x="660383" y="4716463"/>
            <a:ext cx="664957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D7E2D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SYSTEM LIFECYCLE TARGET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0383" y="5019278"/>
            <a:ext cx="6649573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Problem → Classification → Decision → Collection → Recycling</a:t>
            </a:r>
            <a:endParaRPr lang="en-US" sz="14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845" y="1617662"/>
            <a:ext cx="3865863" cy="47323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789404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150" dirty="0">
                <a:solidFill>
                  <a:srgbClr val="53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TARGET CAPABILITIES · SYSTEM PIPELINE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50888"/>
            <a:ext cx="789404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-42" dirty="0">
                <a:solidFill>
                  <a:srgbClr val="F4F8F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MISSION 02 — SYSTEM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081364" y="617835"/>
            <a:ext cx="2653142" cy="328017"/>
          </a:xfrm>
          <a:prstGeom prst="roundRect">
            <a:avLst>
              <a:gd name="adj" fmla="val 3484"/>
            </a:avLst>
          </a:prstGeom>
          <a:solidFill>
            <a:srgbClr val="094043"/>
          </a:solidFill>
          <a:ln/>
        </p:spPr>
      </p:sp>
      <p:sp>
        <p:nvSpPr>
          <p:cNvPr id="5" name="Text 3"/>
          <p:cNvSpPr/>
          <p:nvPr/>
        </p:nvSpPr>
        <p:spPr>
          <a:xfrm>
            <a:off x="9210841" y="682526"/>
            <a:ext cx="2523665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MISSION COMPLETION: 100%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189" y="1573212"/>
            <a:ext cx="3606710" cy="2261394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7" name="Shape 5"/>
          <p:cNvSpPr/>
          <p:nvPr/>
        </p:nvSpPr>
        <p:spPr>
          <a:xfrm>
            <a:off x="660383" y="1776413"/>
            <a:ext cx="828158" cy="328017"/>
          </a:xfrm>
          <a:prstGeom prst="roundRect">
            <a:avLst>
              <a:gd name="adj" fmla="val 3484"/>
            </a:avLst>
          </a:prstGeom>
          <a:solidFill>
            <a:srgbClr val="094043"/>
          </a:solidFill>
          <a:ln/>
        </p:spPr>
      </p:sp>
      <p:sp>
        <p:nvSpPr>
          <p:cNvPr id="8" name="Text 6"/>
          <p:cNvSpPr/>
          <p:nvPr/>
        </p:nvSpPr>
        <p:spPr>
          <a:xfrm>
            <a:off x="789861" y="1841103"/>
            <a:ext cx="1178788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 01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0383" y="2231430"/>
            <a:ext cx="320032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kern="100" spc="-25" dirty="0">
                <a:solidFill>
                  <a:srgbClr val="D7E2D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1. Register E-Waste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0383" y="2590205"/>
            <a:ext cx="3200320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 owner, item, type, condition and weight.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68691" y="1573212"/>
            <a:ext cx="3454314" cy="2261394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1886" y="1776413"/>
            <a:ext cx="828158" cy="328017"/>
          </a:xfrm>
          <a:prstGeom prst="roundRect">
            <a:avLst>
              <a:gd name="adj" fmla="val 3484"/>
            </a:avLst>
          </a:prstGeom>
          <a:solidFill>
            <a:srgbClr val="094043"/>
          </a:solidFill>
          <a:ln/>
        </p:spPr>
      </p:sp>
      <p:sp>
        <p:nvSpPr>
          <p:cNvPr id="13" name="Text 11"/>
          <p:cNvSpPr/>
          <p:nvPr/>
        </p:nvSpPr>
        <p:spPr>
          <a:xfrm>
            <a:off x="4701363" y="1841103"/>
            <a:ext cx="1178788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 02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1886" y="2231430"/>
            <a:ext cx="304792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kern="100" spc="-25" dirty="0">
                <a:solidFill>
                  <a:srgbClr val="D7E2D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2. Classify Automatically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1886" y="2590205"/>
            <a:ext cx="3251119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Assign the correct e-waste category.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27797" y="1573212"/>
            <a:ext cx="3606710" cy="2261394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17" name="Shape 15"/>
          <p:cNvSpPr/>
          <p:nvPr/>
        </p:nvSpPr>
        <p:spPr>
          <a:xfrm>
            <a:off x="8330992" y="1776413"/>
            <a:ext cx="828158" cy="328017"/>
          </a:xfrm>
          <a:prstGeom prst="roundRect">
            <a:avLst>
              <a:gd name="adj" fmla="val 3484"/>
            </a:avLst>
          </a:prstGeom>
          <a:solidFill>
            <a:srgbClr val="094043"/>
          </a:solidFill>
          <a:ln/>
        </p:spPr>
      </p:sp>
      <p:sp>
        <p:nvSpPr>
          <p:cNvPr id="18" name="Text 16"/>
          <p:cNvSpPr/>
          <p:nvPr/>
        </p:nvSpPr>
        <p:spPr>
          <a:xfrm>
            <a:off x="8460469" y="1841103"/>
            <a:ext cx="1178788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 03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30992" y="2231430"/>
            <a:ext cx="320032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kern="100" spc="-25" dirty="0">
                <a:solidFill>
                  <a:srgbClr val="D7E2D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3. Recommend Action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30992" y="2590205"/>
            <a:ext cx="3200320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Reuse → Repair → Recycling based on condition.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189" y="4139406"/>
            <a:ext cx="3606710" cy="2261394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22" name="Shape 20"/>
          <p:cNvSpPr/>
          <p:nvPr/>
        </p:nvSpPr>
        <p:spPr>
          <a:xfrm>
            <a:off x="660383" y="4342606"/>
            <a:ext cx="828158" cy="328017"/>
          </a:xfrm>
          <a:prstGeom prst="roundRect">
            <a:avLst>
              <a:gd name="adj" fmla="val 3484"/>
            </a:avLst>
          </a:prstGeom>
          <a:solidFill>
            <a:srgbClr val="094043"/>
          </a:solidFill>
          <a:ln/>
        </p:spPr>
      </p:sp>
      <p:sp>
        <p:nvSpPr>
          <p:cNvPr id="23" name="Text 21"/>
          <p:cNvSpPr/>
          <p:nvPr/>
        </p:nvSpPr>
        <p:spPr>
          <a:xfrm>
            <a:off x="789861" y="4407297"/>
            <a:ext cx="1178788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 04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60383" y="4797623"/>
            <a:ext cx="320032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kern="100" spc="-25" dirty="0">
                <a:solidFill>
                  <a:srgbClr val="D7E2D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4. Reward Responsible Disposal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0383" y="5156398"/>
            <a:ext cx="3200320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Calculate reward points according to type, weight and condition.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368691" y="4139406"/>
            <a:ext cx="3454314" cy="2261394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1886" y="4342606"/>
            <a:ext cx="828158" cy="328017"/>
          </a:xfrm>
          <a:prstGeom prst="roundRect">
            <a:avLst>
              <a:gd name="adj" fmla="val 3484"/>
            </a:avLst>
          </a:prstGeom>
          <a:solidFill>
            <a:srgbClr val="094043"/>
          </a:solidFill>
          <a:ln/>
        </p:spPr>
      </p:sp>
      <p:sp>
        <p:nvSpPr>
          <p:cNvPr id="28" name="Text 26"/>
          <p:cNvSpPr/>
          <p:nvPr/>
        </p:nvSpPr>
        <p:spPr>
          <a:xfrm>
            <a:off x="4701363" y="4407297"/>
            <a:ext cx="1178788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 05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1886" y="4797623"/>
            <a:ext cx="304792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kern="100" spc="-25" dirty="0">
                <a:solidFill>
                  <a:srgbClr val="D7E2D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5. Track Collection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571886" y="5156398"/>
            <a:ext cx="3047924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Registered → Scheduled → Collected → Sorted → Recycled.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127797" y="4139406"/>
            <a:ext cx="3606710" cy="2261394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32" name="Shape 30"/>
          <p:cNvSpPr/>
          <p:nvPr/>
        </p:nvSpPr>
        <p:spPr>
          <a:xfrm>
            <a:off x="8330992" y="4342606"/>
            <a:ext cx="828158" cy="328017"/>
          </a:xfrm>
          <a:prstGeom prst="roundRect">
            <a:avLst>
              <a:gd name="adj" fmla="val 3484"/>
            </a:avLst>
          </a:prstGeom>
          <a:solidFill>
            <a:srgbClr val="094043"/>
          </a:solidFill>
          <a:ln/>
        </p:spPr>
      </p:sp>
      <p:sp>
        <p:nvSpPr>
          <p:cNvPr id="33" name="Text 31"/>
          <p:cNvSpPr/>
          <p:nvPr/>
        </p:nvSpPr>
        <p:spPr>
          <a:xfrm>
            <a:off x="8460469" y="4407297"/>
            <a:ext cx="1178788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 06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30992" y="4797623"/>
            <a:ext cx="320032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kern="100" spc="-25" dirty="0">
                <a:solidFill>
                  <a:srgbClr val="D7E2D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6. Generate Reports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330992" y="5156398"/>
            <a:ext cx="3200320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categories, conditions, status, weight and rewards.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789404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150" dirty="0">
                <a:solidFill>
                  <a:srgbClr val="53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SYSTEM ARCHITECTURE · C++17 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50888"/>
            <a:ext cx="789404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-42" dirty="0">
                <a:solidFill>
                  <a:srgbClr val="F4F8F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CORE ENGINE — OBJECT-ORIENTED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351232" y="518517"/>
            <a:ext cx="3383275" cy="526653"/>
          </a:xfrm>
          <a:prstGeom prst="roundRect">
            <a:avLst>
              <a:gd name="adj" fmla="val 2170"/>
            </a:avLst>
          </a:prstGeom>
          <a:noFill/>
          <a:ln w="6350">
            <a:solidFill>
              <a:srgbClr val="53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80709" y="583208"/>
            <a:ext cx="3124320" cy="39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53E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VECTOR&lt;EWASTEITEM*&gt; → RUNTIME POLYMORPHISM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189" y="1547812"/>
            <a:ext cx="11277318" cy="1610916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7" name="Text 5"/>
          <p:cNvSpPr/>
          <p:nvPr/>
        </p:nvSpPr>
        <p:spPr>
          <a:xfrm>
            <a:off x="660383" y="1700213"/>
            <a:ext cx="1107412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D7E2D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CLASS HIERARCHY TREE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0383" y="2003028"/>
            <a:ext cx="1107412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Class hierarchy: EWasteItem &lt;&lt; ABSTRACT &gt;&gt; → Mobile, Laptop, Battery, Printer, Television.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1981" y="2476103"/>
            <a:ext cx="18490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Mobile</a:t>
            </a:r>
            <a:endParaRPr lang="en-US" sz="12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8EA5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Derived Class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66566" y="2476103"/>
            <a:ext cx="184919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Laptop</a:t>
            </a:r>
            <a:endParaRPr lang="en-US" sz="12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8EA5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Derived Class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71251" y="2476103"/>
            <a:ext cx="18490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Battery</a:t>
            </a:r>
            <a:endParaRPr lang="en-US" sz="12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8EA5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Derived Class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75837" y="2476103"/>
            <a:ext cx="184919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Printer</a:t>
            </a:r>
            <a:endParaRPr lang="en-US" sz="12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8EA5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Derived Class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580521" y="2476103"/>
            <a:ext cx="18490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Television</a:t>
            </a:r>
            <a:endParaRPr lang="en-US" sz="12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8EA5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Derived Class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189" y="3285728"/>
            <a:ext cx="2590735" cy="3115072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4984" y="4258568"/>
            <a:ext cx="974403" cy="328017"/>
          </a:xfrm>
          <a:prstGeom prst="roundRect">
            <a:avLst>
              <a:gd name="adj" fmla="val 3484"/>
            </a:avLst>
          </a:prstGeom>
          <a:solidFill>
            <a:srgbClr val="094043"/>
          </a:solidFill>
          <a:ln/>
        </p:spPr>
      </p:sp>
      <p:sp>
        <p:nvSpPr>
          <p:cNvPr id="16" name="Text 14"/>
          <p:cNvSpPr/>
          <p:nvPr/>
        </p:nvSpPr>
        <p:spPr>
          <a:xfrm>
            <a:off x="764461" y="4323259"/>
            <a:ext cx="1325033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PILLAR 1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4984" y="4665960"/>
            <a:ext cx="223514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100" spc="-22" dirty="0">
                <a:solidFill>
                  <a:srgbClr val="D7E2D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Encapsulation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4984" y="4999335"/>
            <a:ext cx="22351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Encapsulation:</a:t>
            </a:r>
            <a:r>
              <a:rPr lang="en-US" sz="12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Private data + controlled access.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52716" y="3285728"/>
            <a:ext cx="2590735" cy="3115072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20" name="Shape 18"/>
          <p:cNvSpPr/>
          <p:nvPr/>
        </p:nvSpPr>
        <p:spPr>
          <a:xfrm>
            <a:off x="3530512" y="4151412"/>
            <a:ext cx="974403" cy="328017"/>
          </a:xfrm>
          <a:prstGeom prst="roundRect">
            <a:avLst>
              <a:gd name="adj" fmla="val 3484"/>
            </a:avLst>
          </a:prstGeom>
          <a:solidFill>
            <a:srgbClr val="094043"/>
          </a:solidFill>
          <a:ln/>
        </p:spPr>
      </p:sp>
      <p:sp>
        <p:nvSpPr>
          <p:cNvPr id="21" name="Text 19"/>
          <p:cNvSpPr/>
          <p:nvPr/>
        </p:nvSpPr>
        <p:spPr>
          <a:xfrm>
            <a:off x="3659989" y="4216102"/>
            <a:ext cx="1325033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PILLAR 2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530512" y="4558804"/>
            <a:ext cx="223514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100" spc="-22" dirty="0">
                <a:solidFill>
                  <a:srgbClr val="D7E2D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Abstraction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30512" y="4892179"/>
            <a:ext cx="223514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Abstraction:</a:t>
            </a:r>
            <a:r>
              <a:rPr lang="en-US" sz="12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Abstract EWasteItem + pure virtual functions.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48244" y="3285728"/>
            <a:ext cx="2590735" cy="3115072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25" name="Shape 23"/>
          <p:cNvSpPr/>
          <p:nvPr/>
        </p:nvSpPr>
        <p:spPr>
          <a:xfrm>
            <a:off x="6426039" y="4151412"/>
            <a:ext cx="974403" cy="328017"/>
          </a:xfrm>
          <a:prstGeom prst="roundRect">
            <a:avLst>
              <a:gd name="adj" fmla="val 3484"/>
            </a:avLst>
          </a:prstGeom>
          <a:solidFill>
            <a:srgbClr val="094043"/>
          </a:solidFill>
          <a:ln/>
        </p:spPr>
      </p:sp>
      <p:sp>
        <p:nvSpPr>
          <p:cNvPr id="26" name="Text 24"/>
          <p:cNvSpPr/>
          <p:nvPr/>
        </p:nvSpPr>
        <p:spPr>
          <a:xfrm>
            <a:off x="6555516" y="4216102"/>
            <a:ext cx="1325033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PILLAR 3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26039" y="4558804"/>
            <a:ext cx="223514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100" spc="-22" dirty="0">
                <a:solidFill>
                  <a:srgbClr val="D7E2D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26039" y="4892179"/>
            <a:ext cx="223514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Inheritance:</a:t>
            </a:r>
            <a:r>
              <a:rPr lang="en-US" sz="12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Specialized e-waste classes inherit common behaviour.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143771" y="3285728"/>
            <a:ext cx="2590735" cy="3115072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30" name="Shape 28"/>
          <p:cNvSpPr/>
          <p:nvPr/>
        </p:nvSpPr>
        <p:spPr>
          <a:xfrm>
            <a:off x="9321567" y="4151412"/>
            <a:ext cx="974403" cy="328017"/>
          </a:xfrm>
          <a:prstGeom prst="roundRect">
            <a:avLst>
              <a:gd name="adj" fmla="val 3484"/>
            </a:avLst>
          </a:prstGeom>
          <a:solidFill>
            <a:srgbClr val="094043"/>
          </a:solidFill>
          <a:ln/>
        </p:spPr>
      </p:sp>
      <p:sp>
        <p:nvSpPr>
          <p:cNvPr id="31" name="Text 29"/>
          <p:cNvSpPr/>
          <p:nvPr/>
        </p:nvSpPr>
        <p:spPr>
          <a:xfrm>
            <a:off x="9451044" y="4216102"/>
            <a:ext cx="1325033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PILLAR 4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321567" y="4558804"/>
            <a:ext cx="223514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100" spc="-22" dirty="0">
                <a:solidFill>
                  <a:srgbClr val="D7E2D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Polymorphism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321567" y="4892179"/>
            <a:ext cx="223514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Polymorphism:</a:t>
            </a:r>
            <a:r>
              <a:rPr lang="en-US" sz="12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Base-class pointers call derived-class implementations at runtime.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150" dirty="0">
                <a:solidFill>
                  <a:srgbClr val="53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ALGORITHMIC LOGIC · DECISION ENGINE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50888"/>
            <a:ext cx="11277318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-42" dirty="0">
                <a:solidFill>
                  <a:srgbClr val="F4F8F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CORE ENGINE — SMART DECISION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189" y="1566863"/>
            <a:ext cx="11277318" cy="1179116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1719263"/>
            <a:ext cx="1104872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D7E2D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PIPELINE EXECUTION 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783" y="2022078"/>
            <a:ext cx="11048724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USER → REGISTER E-WASTE → IDENTIFY TYPE → CHECK CONDITION → CALCULATE REWARD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189" y="2898378"/>
            <a:ext cx="11277318" cy="1179116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8" name="Text 6"/>
          <p:cNvSpPr/>
          <p:nvPr/>
        </p:nvSpPr>
        <p:spPr>
          <a:xfrm>
            <a:off x="685783" y="3050778"/>
            <a:ext cx="1104872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D7E2D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PIPELINE EXECUTION STEP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783" y="3353594"/>
            <a:ext cx="11048724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SMART RECOMMENDATION: Working → REUSE / RESALE; Partial → REPAIR / REFURBISH; Non-working → RECYCLING.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189" y="4229894"/>
            <a:ext cx="11277318" cy="1179116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11" name="Text 9"/>
          <p:cNvSpPr/>
          <p:nvPr/>
        </p:nvSpPr>
        <p:spPr>
          <a:xfrm>
            <a:off x="685783" y="4382294"/>
            <a:ext cx="1104872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D7E2D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PIPELINE EXECUTION STEP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783" y="4685109"/>
            <a:ext cx="11048724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SCHEDULE COLLECTION → COLLECTED → SORTED → RECYCLED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1182" y="5688409"/>
            <a:ext cx="1102332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D7E2D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RUNTIME TEST EXECUTION TRACE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1182" y="5991225"/>
            <a:ext cx="1102332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Example:</a:t>
            </a:r>
            <a:r>
              <a:rPr lang="en-US" sz="15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Laptop | 2.5 kg | Non-Working → Computer Equipment → Recycling Recommended → 46 Reward Points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789404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150" dirty="0">
                <a:solidFill>
                  <a:srgbClr val="53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FUNCTIONAL SPECIFICATION · CAPABILITIES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50888"/>
            <a:ext cx="789404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-42" dirty="0">
                <a:solidFill>
                  <a:srgbClr val="F4F8F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SYSTEM MODULES — AVAILABLE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351232" y="518517"/>
            <a:ext cx="3383275" cy="526653"/>
          </a:xfrm>
          <a:prstGeom prst="roundRect">
            <a:avLst>
              <a:gd name="adj" fmla="val 2170"/>
            </a:avLst>
          </a:prstGeom>
          <a:solidFill>
            <a:srgbClr val="094043"/>
          </a:solidFill>
          <a:ln/>
        </p:spPr>
      </p:sp>
      <p:sp>
        <p:nvSpPr>
          <p:cNvPr id="5" name="Text 3"/>
          <p:cNvSpPr/>
          <p:nvPr/>
        </p:nvSpPr>
        <p:spPr>
          <a:xfrm>
            <a:off x="8480709" y="583208"/>
            <a:ext cx="3124320" cy="39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CORE MODULES | C++17 | OFFLINE SYSTEM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189" y="1547812"/>
            <a:ext cx="5562461" cy="1098947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7" name="Text 5"/>
          <p:cNvSpPr/>
          <p:nvPr/>
        </p:nvSpPr>
        <p:spPr>
          <a:xfrm>
            <a:off x="634984" y="1674813"/>
            <a:ext cx="538466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E-Waste Registration:</a:t>
            </a: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Generate unique E-Waste ID such as EW1001.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046" y="1547812"/>
            <a:ext cx="5562461" cy="1098947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9" name="Text 7"/>
          <p:cNvSpPr/>
          <p:nvPr/>
        </p:nvSpPr>
        <p:spPr>
          <a:xfrm>
            <a:off x="6349841" y="1674813"/>
            <a:ext cx="538466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Condition Assessment:</a:t>
            </a: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Working / Partially Working / Non-Working.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189" y="2799159"/>
            <a:ext cx="5562461" cy="1098947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11" name="Text 9"/>
          <p:cNvSpPr/>
          <p:nvPr/>
        </p:nvSpPr>
        <p:spPr>
          <a:xfrm>
            <a:off x="634984" y="2926159"/>
            <a:ext cx="538466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Reward Engine:</a:t>
            </a: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Type rate × weight × condition multiplier.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046" y="2799159"/>
            <a:ext cx="5562461" cy="1098947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13" name="Text 11"/>
          <p:cNvSpPr/>
          <p:nvPr/>
        </p:nvSpPr>
        <p:spPr>
          <a:xfrm>
            <a:off x="6349841" y="2926159"/>
            <a:ext cx="538466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Collection Manager:</a:t>
            </a: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Schedule and track collection lifecycle.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189" y="4050506"/>
            <a:ext cx="5562461" cy="1098947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15" name="Text 13"/>
          <p:cNvSpPr/>
          <p:nvPr/>
        </p:nvSpPr>
        <p:spPr>
          <a:xfrm>
            <a:off x="634984" y="4177506"/>
            <a:ext cx="538466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Search System:</a:t>
            </a: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Search by ID, owner or category.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046" y="4050506"/>
            <a:ext cx="5562461" cy="1098947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17" name="Text 15"/>
          <p:cNvSpPr/>
          <p:nvPr/>
        </p:nvSpPr>
        <p:spPr>
          <a:xfrm>
            <a:off x="6349841" y="4177506"/>
            <a:ext cx="5206870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Report Generator:</a:t>
            </a: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Category, condition, status, weight and reward statistics.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189" y="5301853"/>
            <a:ext cx="5562461" cy="1098947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19" name="Text 17"/>
          <p:cNvSpPr/>
          <p:nvPr/>
        </p:nvSpPr>
        <p:spPr>
          <a:xfrm>
            <a:off x="634984" y="5428853"/>
            <a:ext cx="5206870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Exception Handling:</a:t>
            </a: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Custom exceptions for invalid input, ID, weight and missing records.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046" y="5301853"/>
            <a:ext cx="5562461" cy="1098947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21" name="Text 19"/>
          <p:cNvSpPr/>
          <p:nvPr/>
        </p:nvSpPr>
        <p:spPr>
          <a:xfrm>
            <a:off x="6349841" y="5428853"/>
            <a:ext cx="538466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File Management:</a:t>
            </a: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Persistent data + transaction logging.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150" dirty="0">
                <a:solidFill>
                  <a:srgbClr val="53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CLI INTERFACE &amp; BATCH ANALYTICS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50888"/>
            <a:ext cx="11277318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-42" dirty="0">
                <a:solidFill>
                  <a:srgbClr val="F4F8F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MISSION COMPLETE — SYSTEM OUTPUT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60383" y="3347442"/>
            <a:ext cx="628892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D7E2D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TERMINAL SESSION: /BIN/EWASTE_CLI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0383" y="3662958"/>
            <a:ext cx="6085727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Actual C++ console menu:</a:t>
            </a: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1. Register E-Waste; 2. View All E-Waste; 3. Search E-Waste; 4. Assess Condition; 5. Get Recycling Recommendation; 6. Calculate Reward; 7. Schedule Collection; 8. Update Status; 9. Generate Reports; 10. Update E-Waste; 11. Delete E-Waste; 12. View Transaction Log; 13. Save &amp; Exit.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06395" y="1795463"/>
            <a:ext cx="432811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53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AGGREGATE SYSTEM AUDIT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06395" y="2110978"/>
            <a:ext cx="4328111" cy="690265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8" name="Text 6"/>
          <p:cNvSpPr/>
          <p:nvPr/>
        </p:nvSpPr>
        <p:spPr>
          <a:xfrm>
            <a:off x="7584191" y="2212578"/>
            <a:ext cx="4150316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Total Items:</a:t>
            </a: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05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06395" y="2953643"/>
            <a:ext cx="4328111" cy="690265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10" name="Text 8"/>
          <p:cNvSpPr/>
          <p:nvPr/>
        </p:nvSpPr>
        <p:spPr>
          <a:xfrm>
            <a:off x="7584191" y="3055243"/>
            <a:ext cx="4150316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Total Weight:</a:t>
            </a: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18.70 KG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06395" y="3796308"/>
            <a:ext cx="4328111" cy="690364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12" name="Text 10"/>
          <p:cNvSpPr/>
          <p:nvPr/>
        </p:nvSpPr>
        <p:spPr>
          <a:xfrm>
            <a:off x="7584191" y="3897908"/>
            <a:ext cx="4150316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Reward Points:</a:t>
            </a: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312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06395" y="4639072"/>
            <a:ext cx="4328111" cy="690364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14" name="Text 12"/>
          <p:cNvSpPr/>
          <p:nvPr/>
        </p:nvSpPr>
        <p:spPr>
          <a:xfrm>
            <a:off x="7584191" y="4740672"/>
            <a:ext cx="4150316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Hazardous Items:</a:t>
            </a: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01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406395" y="5481836"/>
            <a:ext cx="4328111" cy="690364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16" name="Text 14"/>
          <p:cNvSpPr/>
          <p:nvPr/>
        </p:nvSpPr>
        <p:spPr>
          <a:xfrm>
            <a:off x="7584191" y="5583436"/>
            <a:ext cx="4150316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Recycled Items:</a:t>
            </a: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03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789404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150" dirty="0">
                <a:solidFill>
                  <a:srgbClr val="53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EVALUATION &amp;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50888"/>
            <a:ext cx="789404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-42" dirty="0">
                <a:solidFill>
                  <a:srgbClr val="F4F8F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FINAL STATUS — PROJECT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2305" y="617835"/>
            <a:ext cx="2772202" cy="328017"/>
          </a:xfrm>
          <a:prstGeom prst="roundRect">
            <a:avLst>
              <a:gd name="adj" fmla="val 3484"/>
            </a:avLst>
          </a:prstGeom>
          <a:solidFill>
            <a:srgbClr val="094043"/>
          </a:solidFill>
          <a:ln/>
        </p:spPr>
      </p:sp>
      <p:sp>
        <p:nvSpPr>
          <p:cNvPr id="5" name="Text 3"/>
          <p:cNvSpPr/>
          <p:nvPr/>
        </p:nvSpPr>
        <p:spPr>
          <a:xfrm>
            <a:off x="9091782" y="682526"/>
            <a:ext cx="2642725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STATUS: OPERATIONAL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189" y="1547812"/>
            <a:ext cx="5410065" cy="4852987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7" name="Text 5"/>
          <p:cNvSpPr/>
          <p:nvPr/>
        </p:nvSpPr>
        <p:spPr>
          <a:xfrm>
            <a:off x="660383" y="1751013"/>
            <a:ext cx="5003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kern="100" spc="-27" dirty="0">
                <a:solidFill>
                  <a:srgbClr val="D7E2D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WHAT WE ACHIEVED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0383" y="2439988"/>
            <a:ext cx="5003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Practical e-waste management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0383" y="2909689"/>
            <a:ext cx="5003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Strong OOP implementation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0383" y="3379391"/>
            <a:ext cx="5003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Runtime polymorphism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0383" y="3849092"/>
            <a:ext cx="5003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Exception handling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0383" y="4318794"/>
            <a:ext cx="5003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File persistence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0383" y="4788495"/>
            <a:ext cx="5003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STL-based data management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0383" y="5258197"/>
            <a:ext cx="5003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Collection lifecycle tracking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0383" y="5727898"/>
            <a:ext cx="500367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Reward and recommendation engine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24442" y="1547812"/>
            <a:ext cx="5410065" cy="4852987"/>
          </a:xfrm>
          <a:prstGeom prst="rect">
            <a:avLst/>
          </a:prstGeom>
          <a:solidFill>
            <a:srgbClr val="152226"/>
          </a:solidFill>
          <a:ln/>
        </p:spPr>
      </p:sp>
      <p:sp>
        <p:nvSpPr>
          <p:cNvPr id="17" name="Text 15"/>
          <p:cNvSpPr/>
          <p:nvPr/>
        </p:nvSpPr>
        <p:spPr>
          <a:xfrm>
            <a:off x="6527637" y="1751013"/>
            <a:ext cx="5003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kern="100" spc="-27" dirty="0">
                <a:solidFill>
                  <a:srgbClr val="D7E2D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FUTURE UPGRADES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54634" y="2541588"/>
            <a:ext cx="4749681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Database Integration:</a:t>
            </a: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Replace text storage with MySQL/database.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54634" y="3510359"/>
            <a:ext cx="487667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Authentication:</a:t>
            </a: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Add user/admin login.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54634" y="4256286"/>
            <a:ext cx="487667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Analytics Dashboard:</a:t>
            </a: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Visualize recycling statistics.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54634" y="5002312"/>
            <a:ext cx="4749681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D7E2D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Mobile/Web Interface:</a:t>
            </a:r>
            <a:r>
              <a:rPr lang="en-US" sz="130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Connect the C++ backend with a modern interface.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27637" y="5869583"/>
            <a:ext cx="2870327" cy="328017"/>
          </a:xfrm>
          <a:prstGeom prst="roundRect">
            <a:avLst>
              <a:gd name="adj" fmla="val 3484"/>
            </a:avLst>
          </a:prstGeom>
          <a:noFill/>
          <a:ln w="6350">
            <a:solidFill>
              <a:srgbClr val="D7E2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57114" y="5934273"/>
            <a:ext cx="3220957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dirty="0">
                <a:solidFill>
                  <a:srgbClr val="D7E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THANK YOU · QUESTIONS &amp; VIVA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764</Words>
  <Application>Microsoft Office PowerPoint</Application>
  <PresentationFormat>Widescreen</PresentationFormat>
  <Paragraphs>130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IBM Plex Sans SemiBold</vt:lpstr>
      <vt:lpstr>Space Grotesk SemiBold</vt:lpstr>
      <vt:lpstr>Arial</vt:lpstr>
      <vt:lpstr>IBM Plex Sans</vt:lpstr>
      <vt:lpstr>IBM Plex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lastModifiedBy>Bhavana Topale</cp:lastModifiedBy>
  <cp:revision>3</cp:revision>
  <dcterms:created xsi:type="dcterms:W3CDTF">2026-10-05T19:51:31Z</dcterms:created>
  <dcterms:modified xsi:type="dcterms:W3CDTF">2026-10-06T07:49:49Z</dcterms:modified>
</cp:coreProperties>
</file>